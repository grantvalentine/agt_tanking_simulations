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457200" cy="14630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394960"/>
            <a:ext cx="2011680" cy="1463040"/>
          </a:xfrm>
          <a:prstGeom prst="rect">
            <a:avLst/>
          </a:prstGeom>
          <a:solidFill>
            <a:srgbClr val="2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51560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Aligning Incentives in the NBA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834640"/>
            <a:ext cx="5943600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9601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B0BED4"/>
                </a:solidFill>
                <a:latin typeface="Calibri"/>
              </a:rPr>
              <a:t>A Multi-Agent Simulation of Mechanism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CCD6E4"/>
                </a:solidFill>
                <a:latin typeface="Calibri"/>
              </a:rPr>
              <a:t>Grant Valentine  &amp;  Kartik Dhinakaran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8096AF"/>
                </a:solidFill>
                <a:latin typeface="Calibri"/>
              </a:rPr>
              <a:t>Topics in Algorithmic Game Theory  |  May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5303520"/>
            <a:ext cx="685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E63946"/>
                </a:solidFill>
                <a:latin typeface="Calibri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5669280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90A4BD"/>
                </a:solidFill>
                <a:latin typeface="Calibri"/>
              </a:rPr>
              <a:t>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5303520"/>
            <a:ext cx="685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E63946"/>
                </a:solidFill>
                <a:latin typeface="Calibri"/>
              </a:rPr>
              <a:t>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5669280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90A4BD"/>
                </a:solidFill>
                <a:latin typeface="Calibri"/>
              </a:rPr>
              <a:t>Games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5303520"/>
            <a:ext cx="685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E63946"/>
                </a:solidFill>
                <a:latin typeface="Calibri"/>
              </a:rP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5669280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90A4BD"/>
                </a:solidFill>
                <a:latin typeface="Calibri"/>
              </a:rPr>
              <a:t>Seasons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5303520"/>
            <a:ext cx="685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E63946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5669280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90A4BD"/>
                </a:solidFill>
                <a:latin typeface="Calibri"/>
              </a:rPr>
              <a:t>Mechanisms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90A4BD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What Is Tanking?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B0BED4"/>
                </a:solidFill>
                <a:latin typeface="Calibri"/>
              </a:rPr>
              <a:t>The incentive problem and its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Is Tanking?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The Incentive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0020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Tanking = deliberately losing games to improve future draft position</a:t>
            </a:r>
          </a:p>
          <a:p>
            <a:pPr>
              <a:spcBef>
                <a:spcPts val="7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NBA Draft Lottery: worse record → more ping-pong balls → better odds</a:t>
            </a:r>
          </a:p>
          <a:p>
            <a:r>
              <a:rPr sz="800"/>
              <a:t> </a:t>
            </a:r>
          </a:p>
          <a:p>
            <a:pPr>
              <a:spcBef>
                <a:spcPts val="7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A team faces a binary season: compete for playoffs, or lose for picks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555555"/>
                </a:solidFill>
                <a:latin typeface="Calibri"/>
              </a:rPr>
              <a:t>  – When playoff odds fall below a threshold, tanking becomes individually rational</a:t>
            </a:r>
          </a:p>
          <a:p>
            <a:r>
              <a:rPr sz="800"/>
              <a:t> </a:t>
            </a:r>
          </a:p>
          <a:p>
            <a:pPr>
              <a:spcBef>
                <a:spcPts val="7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Not a moral failing — a structural game-theory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005840"/>
            <a:ext cx="5577840" cy="57607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The Expected-Utility Tradeoff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394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𝔼[U] = p_playoff · V + (1 − p_playoff) · 𝔼[D(k)]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▸ V = value of a playoff berth (revenue, prestige, competitive stature)</a:t>
            </a:r>
          </a:p>
          <a:p>
            <a:pPr>
              <a:spcBef>
                <a:spcPts val="7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▸ D(k) = value of draft pick #k  (k=1 → $100 pts, falls to 3 pts at k=14)</a:t>
            </a:r>
          </a:p>
          <a:p>
            <a:r>
              <a:rPr sz="800"/>
              <a:t> </a:t>
            </a:r>
          </a:p>
          <a:p>
            <a:pPr>
              <a:spcBef>
                <a:spcPts val="7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▸ Tanking is rational when: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ΔE[D(k)] from extra losses  &gt;  V · Δp_playoff lost</a:t>
            </a:r>
          </a:p>
          <a:p>
            <a:r>
              <a:rPr sz="800"/>
              <a:t> </a:t>
            </a:r>
          </a:p>
          <a:p>
            <a:pPr>
              <a:spcBef>
                <a:spcPts val="7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▸ This tradeoff exists for SOME team under ANY weighted lottery  (Banchio &amp; Munro 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 Brief History of Tanking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The incentive has been present since the first draft lottery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27432" cy="521208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1234440"/>
            <a:ext cx="201168" cy="201168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18872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63946"/>
                </a:solidFill>
                <a:latin typeface="Calibri"/>
              </a:rPr>
              <a:t>1983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1887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Houston Rockets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90472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Deliberately underperform late-season to secure #1 pick (Ralph Sampson). NBA notices.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258568"/>
            <a:ext cx="201168" cy="20116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12848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2196F3"/>
                </a:solidFill>
                <a:latin typeface="Calibri"/>
              </a:rPr>
              <a:t>1985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212848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NBA introduces the lottery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514600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Equal odds for all non-playoff teams. Conspiracy: 'frozen envelope' lets Knicks land Patrick Ewing.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282696"/>
            <a:ext cx="201168" cy="20116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36976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4CAF50"/>
                </a:solidFill>
                <a:latin typeface="Calibri"/>
              </a:rPr>
              <a:t>1990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236976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Weighted lottery introduced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538728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Worst team gets 16.7% odds. Taylor &amp; Trogdon (2002): eliminated teams lose 2.2× more than expected.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4306824"/>
            <a:ext cx="201168" cy="20116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61104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9800"/>
                </a:solidFill>
                <a:latin typeface="Calibri"/>
              </a:rPr>
              <a:t>2013–16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261104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Sam Hinkie's 'The Process'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562856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76ers stockpile picks across 3 seasons. Hinkie forced out. League-wide imitation follows.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5330952"/>
            <a:ext cx="201168" cy="201168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9C27B0"/>
                </a:solidFill>
                <a:latin typeface="Calibri"/>
              </a:rPr>
              <a:t>2019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285232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NBA flattens top-3 odds to 14% 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586984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Intended to reduce tanking. Instead: displaces incentive to picks #4–7. Tanking continues.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NBA Lottery Reforms: A Cycle of Displacement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Each reform reduces tanking in one place and creates it somewhere else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2103120" cy="2286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2103120" cy="3886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325880"/>
            <a:ext cx="1920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B3A6B"/>
                </a:solidFill>
                <a:latin typeface="Calibri"/>
              </a:rPr>
              <a:t>1985
Equal odds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965960"/>
            <a:ext cx="1920240" cy="3017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All 7 non-playoff teams have identical odds.
Eliminates race-to-bottom, creates race to non-playoffs.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9192" y="1051560"/>
            <a:ext cx="2103120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79192" y="1280160"/>
            <a:ext cx="2103120" cy="3886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325880"/>
            <a:ext cx="1920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B3A6B"/>
                </a:solidFill>
                <a:latin typeface="Calibri"/>
              </a:rPr>
              <a:t>1990
Weighted odds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965960"/>
            <a:ext cx="1920240" cy="3017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Worst team: 16.7% at #1 pick.
Reintroduces tanking incentive, now concentrated at absolute bottom.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46904" y="1051560"/>
            <a:ext cx="2103120" cy="2286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46904" y="1280160"/>
            <a:ext cx="2103120" cy="3886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325880"/>
            <a:ext cx="1920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B3A6B"/>
                </a:solidFill>
                <a:latin typeface="Calibri"/>
              </a:rPr>
              <a:t>1994
More weighting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1965960"/>
            <a:ext cx="1920240" cy="3017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Worst team: 25% at #1 pick.
Tanking value even higher for the very worst team.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14616" y="1051560"/>
            <a:ext cx="2103120" cy="2286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14616" y="1280160"/>
            <a:ext cx="2103120" cy="3886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24344" y="1325880"/>
            <a:ext cx="1920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B3A6B"/>
                </a:solidFill>
                <a:latin typeface="Calibri"/>
              </a:rPr>
              <a:t>2019
Flattened 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4344" y="1965960"/>
            <a:ext cx="1920240" cy="3017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Top-3 teams each get 14% at #1 pick.
Displaces incentive to positions 4–7. Tanking persists.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82328" y="1051560"/>
            <a:ext cx="210312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82328" y="1280160"/>
            <a:ext cx="2103120" cy="3886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92056" y="1325880"/>
            <a:ext cx="1920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B3A6B"/>
                </a:solidFill>
                <a:latin typeface="Calibri"/>
              </a:rPr>
              <a:t>2026
3-2-1 proposal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2056" y="1965960"/>
            <a:ext cx="1920240" cy="3017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Bottom 3 get fewer balls than teams ranked 4–14.
Our research tests whether this inverts the incentive.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Reforms Keep Failing: The Banchio Impossibility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Banchio &amp; Munro (2020), Theorem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11338560" cy="21031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64008" cy="2103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1B3A6B"/>
                </a:solidFill>
                <a:latin typeface="Calibri"/>
              </a:rPr>
              <a:t>Theorem 1 (Banchio &amp; Munro 2020)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Any draft mechanism that (a) allocates picks based solely on end-of-season standings and (b) does not treat all non-playoff teams identically, will give some team an incentive to lose in some possible season history.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337560"/>
            <a:ext cx="11338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Proof by contradiction: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If mechanism favors worse records and isn't flat, ∃ a rank where one more loss improves lottery odds by more than it costs in playoff probability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No parameter choice fixes this — it is structural, not parametric</a:t>
            </a:r>
          </a:p>
          <a:p>
            <a:r>
              <a:rPr sz="800"/>
              <a:t>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Implication: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No tweak to the current odds table can eliminate tanking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The only escape routes: (1) lock in standings mid-season, or (2) equal odds (destroys redistribution), or (3) break the standings → lottery link entirely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90A4BD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The Formal Model &amp; Proposals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B0BED4"/>
                </a:solidFill>
                <a:latin typeface="Calibri"/>
              </a:rPr>
              <a:t>Five mechanisms + the math behind agent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Formal Model: League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Teams &amp; Skills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n = 30 teams, each with true skill αᵢ ~ LogNormal(0, 0.3)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Skills evolve: mean reversion + draft pick quality boost</a:t>
            </a:r>
          </a:p>
          <a:p>
            <a:r>
              <a:rPr sz="800"/>
              <a:t> 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Season Structure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G = 82 games per team (balanced round-robin schedule)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Top P = 16 teams by wins → playoffs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Bottom L = 14 teams → draft lottery</a:t>
            </a:r>
          </a:p>
          <a:p>
            <a:r>
              <a:rPr sz="800"/>
              <a:t> 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Win Probability  (Bradley–Terry with effort floor)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P(A beats B) = (αA · effA) / (αA · effA + αB · effB)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eff = 0.3 + 0.7 · e  →  even at e = 0, team plays at 30% strength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Floor δ = 0.3: teams cannot perfectly throw a game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005840"/>
            <a:ext cx="5532120" cy="58064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05156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Agent Decisions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Effort e ∈ {0, 0.25, 0.5, 0.75, 1.0} (discrete grid)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Decision at 8 checkpoints per season (every 10 games)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e &lt; 0.5 = tanking decision</a:t>
            </a:r>
          </a:p>
          <a:p>
            <a:r>
              <a:rPr sz="800"/>
              <a:t> 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Utility Function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U = V  if team makes playoffs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U = E[D(k)]  otherwise  (expected pick value from lottery)</a:t>
            </a:r>
          </a:p>
          <a:p>
            <a:r>
              <a:rPr sz="800"/>
              <a:t> 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Payoff Calibration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V = 200  (playoff &gt;&gt; any single lottery pick)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D(1)=100, D(2)=65, D(3)=45, ... D(14)=3  pts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Calibration: consistent with u(playoffs) &gt;&gt; u(picks) (Kazachkov 2020)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When Is Tanking Individually Rational?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38560" cy="155448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64008" cy="15544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B3A6B"/>
                </a:solidFill>
                <a:latin typeface="Calibri"/>
              </a:rPr>
              <a:t>Expected utility comparison (at a checkpoint):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10972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𝔼[U | compete] = p_playoff(e=1) · V + (1−p_playoff(e=1)) · 𝔼[D(k) | rank_compete]
𝔼[U | tank]    = p_playoff(e=0) · V + (1−p_playoff(e=0)) · 𝔼[D(k) | rank_tank]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88920"/>
            <a:ext cx="11338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Rational agent tanks when: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The playoff probability with e=1 is negligibly small (team is out of contention)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AND the lottery rank improvement from e=0 meaningfully raises E[D(k)]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This is NOT a binary threshold — we compute the normal-approximation p_playoff continuously</a:t>
            </a:r>
          </a:p>
          <a:p>
            <a:r>
              <a:rPr sz="800"/>
              <a:t> 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Key calibration insight: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With V = 200: E[D(k)] across all lottery slots averages ~24 pts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Even pick #1 (100 pts at 14% odds) has expected value ≈ 14 pts &lt; &lt; 200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Tanking is only rational when p_playoff is truly negligible (&lt; ~5%)</a:t>
            </a:r>
          </a:p>
          <a:p>
            <a:r>
              <a:rPr sz="800"/>
              <a:t> 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Concentration of tanking decisions (our simulation):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76% of tanking decisions: team ranked 21st or worse (deep lottery)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16% of tanking decisions: team ranked 13–20 (near bubble but behind)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Teams in playoff position essentially never tank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Five Mechanisms Under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92024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106424"/>
            <a:ext cx="1828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80" y="1051560"/>
            <a:ext cx="237744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3432" y="1106424"/>
            <a:ext cx="2286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Lottery Basis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051560"/>
            <a:ext cx="384048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106424"/>
            <a:ext cx="3749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How It Addresses Tanking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58200" y="1051560"/>
            <a:ext cx="347472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2" y="1106424"/>
            <a:ext cx="33832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Theoretical Guarantee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490472"/>
            <a:ext cx="1920240" cy="74980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490472"/>
            <a:ext cx="54864" cy="7498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545336"/>
            <a:ext cx="175564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NBA Lottery (2019)
[baseline]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1490472"/>
            <a:ext cx="237744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13432" y="1545336"/>
            <a:ext cx="221284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End-of-season standings,
flattened top-3 at 14%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1490472"/>
            <a:ext cx="3840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1545336"/>
            <a:ext cx="367588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Doesn't — deliberately loses to
improve lottery rank is rational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1490472"/>
            <a:ext cx="347472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1352" y="1545336"/>
            <a:ext cx="331012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None (Banchio theorem applies)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240280"/>
            <a:ext cx="1920240" cy="749808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2240280"/>
            <a:ext cx="54864" cy="74980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2295144"/>
            <a:ext cx="175564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Bilevel
(Kazachkov 2020)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40280" y="2240280"/>
            <a:ext cx="23774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13432" y="2295144"/>
            <a:ext cx="221284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Standings at game 70
(~85% through season)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2240280"/>
            <a:ext cx="38404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2295144"/>
            <a:ext cx="367588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Locks draft position before
tanking becomes rational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2240280"/>
            <a:ext cx="3474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2295144"/>
            <a:ext cx="331012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No post-lock-point incentive;
residual pre-lock tanking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990088"/>
            <a:ext cx="1920240" cy="74980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2990088"/>
            <a:ext cx="54864" cy="7498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3044952"/>
            <a:ext cx="175564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COLA
(Highley et al. 2026)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40280" y="2990088"/>
            <a:ext cx="237744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13432" y="3044952"/>
            <a:ext cx="221284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Multi-season accumulated
tickets (equal/season)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2990088"/>
            <a:ext cx="3840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90872" y="3044952"/>
            <a:ext cx="367588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Removes within-season link
between record and lottery odds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2990088"/>
            <a:ext cx="347472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31352" y="3044952"/>
            <a:ext cx="331012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Near-full IC: within-season effort
does not affect lottery odds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739896"/>
            <a:ext cx="1920240" cy="749808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3739896"/>
            <a:ext cx="54864" cy="74980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3794760"/>
            <a:ext cx="175564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Weighted Loss
(this paper)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40280" y="3739896"/>
            <a:ext cx="23774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13432" y="3794760"/>
            <a:ext cx="221284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Cumulative loss score;
early losses worth more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17720" y="3739896"/>
            <a:ext cx="38404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90872" y="3794760"/>
            <a:ext cx="367588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Decaying reward for tanking;
no hard cutoff to game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58200" y="3739896"/>
            <a:ext cx="3474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31352" y="3794760"/>
            <a:ext cx="331012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Continuous suppression;
no strategic discontinuity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489704"/>
            <a:ext cx="1920240" cy="74980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" y="4489704"/>
            <a:ext cx="54864" cy="749808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" y="4544568"/>
            <a:ext cx="175564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NBA 3-2-1
(proposed 2026)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40280" y="4489704"/>
            <a:ext cx="237744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4544568"/>
            <a:ext cx="221284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Tier A (worst 3): 2 balls;
Tier B (4–14): 3 balls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17720" y="4489704"/>
            <a:ext cx="3840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90872" y="4544568"/>
            <a:ext cx="367588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Inverts incentive: being
in bottom 3 is now WORSE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58200" y="4489704"/>
            <a:ext cx="347472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31352" y="4544568"/>
            <a:ext cx="331012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Reduces, does not eliminate;
Tier A guaranteed ≤ pick #12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Bilevel Ranking  (Kazachkov &amp; Vardi 2020)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Lock in draft positions before tanking becomes individually rational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How it works: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Standings are observed at a preset mid-season breakpoint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Our calibration: game 70 of 82 (≈ 85% through the season)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Draft lottery order for non-playoff teams = standings at the lock point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Post-lock games count for playoff seeding only — not draft order</a:t>
            </a:r>
          </a:p>
          <a:p>
            <a:r>
              <a:rPr sz="800"/>
              <a:t>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Why it works: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No team can improve its lottery position after game 70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Rational agents never tank post-lock: no benefit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Residual tanking (3.0%) = rational pre-lock positioning</a:t>
            </a:r>
          </a:p>
          <a:p>
            <a:r>
              <a:rPr sz="800"/>
              <a:t>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Key result (Kazachkov):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57–72% reduction in tanked games vs. NBA lottery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Can also IMPROVE competitive balance: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Late-season tanking distorts standings → bilevel corrects this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05840"/>
            <a:ext cx="5532120" cy="58064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Tradeoffs &amp; Critiques: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Breakpoint must be chosen in advance — no principled formula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Pre-breakpoint tanking incentives remain (teams can game the lock point)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Teams whose position is locked may rest healthy players (no incentive to compete)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Fan engagement: confusing when draft order 'freezes' mid-season</a:t>
            </a:r>
          </a:p>
          <a:p>
            <a:r>
              <a:rPr sz="800"/>
              <a:t>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In our simulation: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Tanking rate: 3.0%  (vs. 6.9% for NBA lottery)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Tau distance: 0.398  (honest: 0.403)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Draft efficiency (weakest quartile): 6.85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Pre-lock tanking observed: rational agents see value in early-season
   positioning before the lock point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COLA: Carry-Over Lottery Allocation  (Highley et al.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Full incentive compatibility by breaking the standings → lottery 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How it works: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Every non-playoff team receives the same fixed number of tickets each season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Record does not matter for ticket allocation within a season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Tickets accumulate across seasons; playoff success / draft wins reduce stockpile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Lottery draw from cumulative ticket pool</a:t>
            </a:r>
          </a:p>
          <a:p>
            <a:r>
              <a:rPr sz="800"/>
              <a:t>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Why it works: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Within any season: effort has no effect on lottery odds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Rational agent has no incentive to tank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Long-run: chronically weak teams accumulate tickets → better picks over time</a:t>
            </a:r>
          </a:p>
          <a:p>
            <a:r>
              <a:rPr sz="800"/>
              <a:t>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Incentive-compatibility proof: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Diet COLA variant: formally proved IC under assumption that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making playoffs is always preferred to lottery access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Classic COLA: simulated IC, not formally proved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05840"/>
            <a:ext cx="5532120" cy="58064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Tradeoffs &amp; Critiques: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Multi-season ticket carryover requires complex accounting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Transition from current system: how to initialize stockpiles fairly?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IC proof depends on all teams always preferring playoffs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'Strong draft year' extension uses Bayesian Truth Serum — itself manipulable</a:t>
            </a:r>
          </a:p>
          <a:p>
            <a:r>
              <a:rPr sz="800"/>
              <a:t>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In our simulation: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Tanking rate: 0.5%  (near-zero; consistent with IC)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Tau distance: 0.408  (honest: 0.407 — nearly identical)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Draft efficiency (weakest quartile): 7.21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Residual tanking: edge cases where accumulated ticket differentials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create ambiguous ranking near the lottery threshold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Weighted Loss &amp; NBA 3-2-1  (Two Anti-Tanking Designs)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53949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9800"/>
                </a:solidFill>
                <a:latin typeface="Calibri"/>
              </a:rPr>
              <a:t>Weighted Loss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▸ Lottery position = total weighted losses, not final standings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▸ Weight function:  w(g) = 0.5^(g / 20)   (half-life = 20 games)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▸ Early-season loss worth ~4× a late-season loss</a:t>
            </a:r>
          </a:p>
          <a:p>
            <a:r>
              <a:rPr sz="800"/>
              <a:t>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Key property: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No hard cutoff — tanking value decays smoothly all season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Harder for teams to strategically 'time' their tanking window</a:t>
            </a:r>
          </a:p>
          <a:p>
            <a:r>
              <a:rPr sz="800"/>
              <a:t>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Simulation results: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Tanking rate: 2.3%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Residual: rational agents still tank early when decay is slow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Draft efficiency: 6.92  (solid redistributive performance)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051560"/>
            <a:ext cx="36576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3949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9C27B0"/>
                </a:solidFill>
                <a:latin typeface="Calibri"/>
              </a:rPr>
              <a:t>NBA 3-2-1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▸ Tier A (worst 3 teams): 2 lottery balls each  →  5.9% odds at #1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▸ Tier B (teams 4–14):    3 lottery balls each  →  8.8% odds at #1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▸ Worst teams guaranteed no worse than pick #12</a:t>
            </a:r>
          </a:p>
          <a:p>
            <a:r>
              <a:rPr sz="800"/>
              <a:t>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Key property (inverted incentive):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Being in the bottom 3 is now WORSE than being in positions 4–14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Rational strategy: avoid the absolute bottom, not target it</a:t>
            </a:r>
          </a:p>
          <a:p>
            <a:r>
              <a:rPr sz="800"/>
              <a:t>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Simulation results: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Tanking rate: 0.9%  (strong reduction)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Draft efficiency: 6.57  — BEST of all mechanisms for weakest teams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Surprising: fewer balls for worst teams → better outcomes on average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Fewer extreme lottery misses; value more evenly spread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90A4BD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Simulation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B0BED4"/>
                </a:solidFill>
                <a:latin typeface="Calibri"/>
              </a:rPr>
              <a:t>What we ran, why, and how agents make decisions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Experimental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7 conditions × 50 seasons each, all agents decide endogenously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0292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106424"/>
            <a:ext cx="411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051560"/>
            <a:ext cx="228600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106424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1051560"/>
            <a:ext cx="301752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8104" y="1106424"/>
            <a:ext cx="29260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Agent Population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051560"/>
            <a:ext cx="594360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5624" y="1106424"/>
            <a:ext cx="5852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435608"/>
            <a:ext cx="5029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435608"/>
            <a:ext cx="502920" cy="50292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1499616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1435608"/>
            <a:ext cx="22860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1499616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Current NBA (2019)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1435608"/>
            <a:ext cx="30175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18104" y="1499616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All honest (e = 1 always)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435608"/>
            <a:ext cx="59436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1499616"/>
            <a:ext cx="5852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Baseline: competitive balance under zero strategic play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938528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1938528"/>
            <a:ext cx="502920" cy="50292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" y="2002536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1938528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" y="2002536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Current NBA (2019)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63240" y="1938528"/>
            <a:ext cx="3017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18104" y="2002536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1 rational + 29 honest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1938528"/>
            <a:ext cx="5943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35624" y="2002536"/>
            <a:ext cx="5852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Does a single strategic team unravel the honest equilibrium?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441448"/>
            <a:ext cx="5029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2441448"/>
            <a:ext cx="502920" cy="5029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" y="2505456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2441448"/>
            <a:ext cx="22860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" y="2505456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Current NBA (2019)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441448"/>
            <a:ext cx="30175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18104" y="2505456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All 30 rational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2441448"/>
            <a:ext cx="59436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35624" y="2505456"/>
            <a:ext cx="5852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Equilibrium tanking level under the current system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944368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2944368"/>
            <a:ext cx="502920" cy="5029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" y="3008376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2944368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" y="3008376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Bilevel  (lock: game 70)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63240" y="2944368"/>
            <a:ext cx="3017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18104" y="3008376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All 30 rational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2944368"/>
            <a:ext cx="5943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3008376"/>
            <a:ext cx="5852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Does the bilevel guarantee hold against adaptive agents?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447288"/>
            <a:ext cx="5029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4320" y="3447288"/>
            <a:ext cx="502920" cy="502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4" y="3511296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" y="3447288"/>
            <a:ext cx="22860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4" y="3511296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COLA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3447288"/>
            <a:ext cx="30175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18104" y="3511296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All 30 rational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80760" y="3447288"/>
            <a:ext cx="59436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35624" y="3511296"/>
            <a:ext cx="5852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Does COLA's incentive compatibility survive strategic agents?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950208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4320" y="3950208"/>
            <a:ext cx="502920" cy="5029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9184" y="4014216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7240" y="3950208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2104" y="4014216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Weighted Loss (exp, t½=20)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63240" y="3950208"/>
            <a:ext cx="3017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118104" y="4014216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All 30 rational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80760" y="3950208"/>
            <a:ext cx="5943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4014216"/>
            <a:ext cx="5852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Does continuous decay suppress tanking vs. hard cutoff?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453128"/>
            <a:ext cx="5029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74320" y="4453128"/>
            <a:ext cx="502920" cy="50292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9184" y="4517136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7240" y="4453128"/>
            <a:ext cx="22860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2104" y="4517136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NBA 3-2-1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63240" y="4453128"/>
            <a:ext cx="30175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18104" y="4517136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All 30 rational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80760" y="4453128"/>
            <a:ext cx="59436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35624" y="4517136"/>
            <a:ext cx="5852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Does inverting Tier A odds alter the tanking equilibrium?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5029200"/>
            <a:ext cx="11750040" cy="274320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5056632"/>
            <a:ext cx="7315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Additional sweeps (50 seasons each):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303520"/>
            <a:ext cx="50292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9184" y="5340096"/>
            <a:ext cx="411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00897B"/>
                </a:solidFill>
                <a:latin typeface="Calibri"/>
              </a:rPr>
              <a:t>★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77240" y="5303520"/>
            <a:ext cx="22860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2104" y="5340096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Mixed-population sweep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063240" y="5303520"/>
            <a:ext cx="301752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118104" y="5340096"/>
            <a:ext cx="29260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n_rational ∈ {0, 1, 5, 15, 30}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80760" y="5303520"/>
            <a:ext cx="59436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35624" y="5340096"/>
            <a:ext cx="5852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How does tanking scale with rational-agent share?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5650992"/>
            <a:ext cx="502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29184" y="5687568"/>
            <a:ext cx="411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00897B"/>
                </a:solidFill>
                <a:latin typeface="Calibri"/>
              </a:rPr>
              <a:t>★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77240" y="5650992"/>
            <a:ext cx="2286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32104" y="5687568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Playoff-value sweep (V)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063240" y="5650992"/>
            <a:ext cx="3017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118104" y="5687568"/>
            <a:ext cx="29260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 ∈ {50, 100, 150, 200, 300}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080760" y="5650992"/>
            <a:ext cx="5943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5687568"/>
            <a:ext cx="5852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When do playoff incentives dominate lottery incentives?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5998464"/>
            <a:ext cx="50292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29184" y="6035040"/>
            <a:ext cx="411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00897B"/>
                </a:solidFill>
                <a:latin typeface="Calibri"/>
              </a:rPr>
              <a:t>★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77240" y="5998464"/>
            <a:ext cx="22860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32104" y="6035040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LLM agents (25 seasons)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063240" y="5998464"/>
            <a:ext cx="301752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118104" y="6035040"/>
            <a:ext cx="29260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All 30 = Claude Haiku
5 mechanisms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080760" y="5998464"/>
            <a:ext cx="59436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135624" y="6035040"/>
            <a:ext cx="5852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Do LLMs discover mechanism-specific tanking strategies?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Agent Design: Rational vs.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No hard-coded strategies — behavior emerges from incentives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5394960" cy="347472"/>
          </a:xfrm>
          <a:prstGeom prst="rect">
            <a:avLst/>
          </a:prstGeom>
          <a:solidFill>
            <a:srgbClr val="E3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B3A6B"/>
                </a:solidFill>
                <a:latin typeface="Calibri"/>
              </a:rPr>
              <a:t>Rational Agent  (analytical EU maximizer)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35608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At each checkpoint: evaluates EU over effort grid {0, 0.25, 0.5, 0.75, 1.0}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Playoff probability: normal approximation (σ² = n·p·(1−p))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Lottery EV: pre-computed Monte Carlo table (5,000 simulations per lottery structure)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Picks effort with max EU; deterministic given game state</a:t>
            </a:r>
          </a:p>
          <a:p>
            <a:r>
              <a:rPr sz="700"/>
              <a:t> 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Advantage: reproducible, fast, analytically grounded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Advantage: can isolate mechanism effects without LLM noise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Limitation: perfect rationality — not how real GMs reason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Limitation: no learning across seasons (stateless Bayesian agent)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051560"/>
            <a:ext cx="5394960" cy="347472"/>
          </a:xfrm>
          <a:prstGeom prst="rect">
            <a:avLst/>
          </a:prstGeom>
          <a:solidFill>
            <a:srgbClr val="FB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097280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B3A6B"/>
                </a:solidFill>
                <a:latin typeface="Calibri"/>
              </a:rPr>
              <a:t>LLM Agent  (Claude Haiku-4-5 via Anthropic 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435608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Receives structured natural-language prompt at each checkpoint: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  – Current record, rank, standings (top 5 / bottom 5)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  – Games remaining, playoff gap, lottery tickets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  – Mechanism description + full D(k) payoff schedule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Returns JSON:  {"effort": float, "reasoning": string}</a:t>
            </a:r>
          </a:p>
          <a:p>
            <a:r>
              <a:rPr sz="700"/>
              <a:t> 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System prompt cached per agent instance (reduces API cost ~80%)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No hard-coded tanking rule — behavior fully emergent</a:t>
            </a:r>
          </a:p>
          <a:p>
            <a:r>
              <a:rPr sz="700"/>
              <a:t> 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Advantage: behavioral realism — reasons like a front office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Advantage: spontaneous discovery of game-theoretic incentives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Limitation: expensive (25 seasons of 30 teams × ~7 decisions)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90A4BD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Results &amp;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B0BED4"/>
                </a:solidFill>
                <a:latin typeface="Calibri"/>
              </a:rPr>
              <a:t>50 seasons × 5 mechanisms × rational + honest baselines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 1: Tanking Rate by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All reforms reduce tanking — but by different amounts and mechanisms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8255" y="960120"/>
            <a:ext cx="5850696" cy="58978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1_tanking_by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69848"/>
            <a:ext cx="6118799" cy="56784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66855" y="1234440"/>
            <a:ext cx="5484936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Key numbers (rational agents, 50 seasons):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NBA 2019 baseline:   6.9%  ←  ceiling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Bilevel (lock g=70): 3.0%  ←  pre-lock tanking remains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Weighted loss:       2.3%  ←  early-season incentive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NBA 3-2-1:           0.9%  ←  inverted incentive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COLA:                0.5%  ←  near-zero (near-IC)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Honest agents: 0.0% across all mechanisms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Takeaways: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All four reforms outperform status quo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No single mechanism perfectly eliminates tanking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COLA and 3-2-1 achieve strongest suppression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Bilevel retains pre-breakpoint incentive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 2: Competitive Balance (Kendall Tau Distance)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τ = 0: standings perfectly reflect skill  |  τ = 1: fully reversed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8255" y="960120"/>
            <a:ext cx="5850696" cy="58978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2_tau_by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69848"/>
            <a:ext cx="6118799" cy="56784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66855" y="1234440"/>
            <a:ext cx="5484936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Tau distance  (rational / honest):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NBA 2019:    0.397 / 0.399  (≈ same)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Bilevel:     0.398 / 0.403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COLA:        0.408 / 0.407  (identical!)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Wt. Loss:    0.396 / 0.406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NBA 3-2-1:   0.409 / 0.407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Surprising finding: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With V = 200, rational agents barely change tau vs. honest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Only 6.9% tanking → standings still mostly reflect skill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Draft efficiency (avg pick, weakest quartile):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3-2-1:    6.57  ← best!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Bilevel:  6.85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Wt. Loss: 6.92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COLA:     7.21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NBA 2019: 7.52  ← worst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 3: Mixed-Population Sweep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How does tanking scale as the fraction of rational agents grows?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8255" y="960120"/>
            <a:ext cx="5850696" cy="58978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3_mixed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69848"/>
            <a:ext cx="6118799" cy="56784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66855" y="1234440"/>
            <a:ext cx="5484936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Tanking rate by # rational agents:</a:t>
            </a:r>
          </a:p>
          <a:p>
            <a:r>
              <a:rPr sz="800"/>
              <a:t> 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555555"/>
                </a:solidFill>
                <a:latin typeface="Calibri"/>
              </a:rPr>
              <a:t>  – 0 rational:  0.0%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555555"/>
                </a:solidFill>
                <a:latin typeface="Calibri"/>
              </a:rPr>
              <a:t>  – 1 rational:  0.2%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555555"/>
                </a:solidFill>
                <a:latin typeface="Calibri"/>
              </a:rPr>
              <a:t>  – 5 rational:  0.8%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15 rational:  2.8%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30 rational:  6.9%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Finding: linear scaling, no cascade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Each added rational team ≈ +0.2 pp tanking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Honest equilibrium is NOT fragile at first defection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But unstable over the long run: any front office that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optimizes against the incentive structure gains value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Real NBA implication: even if most teams play honestly,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a small number of analytical front offices can rationally tank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without triggering league-wide contagion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 4: Playoff Value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How does calibrating V (playoff value) change rational tanking?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8255" y="960120"/>
            <a:ext cx="5850696" cy="58978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4_playoff_value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69848"/>
            <a:ext cx="6118799" cy="56784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66855" y="1234440"/>
            <a:ext cx="5484936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Tanking rate by playoff value V: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V =  50:  28.1%  ← high tanking when V is low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V = 100:  13.1%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V = 150:   8.8%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V = 200:   6.9%  ← our baseline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V = 300:   5.3%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Finding: monotone decline, no sharp threshold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Old binary EU model: cliff at V ≈ 50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Probabilistic model: smooth continuous decline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Why this matters: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Calibration of V matters enormously for predictions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V = 200 (&gt;&gt; pick value) is consistent with the paper's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core assumption that u(playoffs) &gt;&gt; u(picks)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Real NBA teams likely have V &gt;&gt; 200 in revenue terms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 5: LLM Agents  (25 seasons, all 5 mechanisms)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LLM tanking is mechanism-dependent — range 0% to 8% across designs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8255" y="960120"/>
            <a:ext cx="5850696" cy="58978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8_rational_vs_llm_by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69848"/>
            <a:ext cx="6118799" cy="56784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66855" y="1234440"/>
            <a:ext cx="5484936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LLM tanking rate by mechanism: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COLA:           0.0%  ← full IC; LLM understands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NBA 3-2-1:     ~0.0%  ← inverted incentive recognized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Weighted loss:  3.4%  ← decay understood; some early-season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Bilevel:        6.2%  ← mid-season lock effect visible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NBA lottery:    8.0%  ← highest; behavioral elimination heuristic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Two types of LLM tanking: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Type 1: lottery-driven (requires mechanism incentive)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Type 2: post-elimination effort drop (mechanism-independent)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LLMs mostly show Type 2: 'playoff odds negligible → reduce effort'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Draft class caveat: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Results assume playoff value &gt; lottery EV  (V = 200)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Generational draft year: lottery EV spikes → could flip even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COLA and 3-2-1 from near-zero to meaningful tanking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 6: Summary — Tanking vs. Competitive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No mechanism Pareto-dominates; all involve explicit design tradeoffs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8255" y="960120"/>
            <a:ext cx="5850696" cy="58978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7_summary_dual_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69848"/>
            <a:ext cx="6118799" cy="56784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66855" y="1234440"/>
            <a:ext cx="5484936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The tradeoff is real: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Mechanisms that suppress tanking most (COLA, 3-2-1)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produce slightly higher tau distance — less tanking means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luck dominates more, so standings reflect skill less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But the effect is small: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Tau range across all mechanisms: 0.396 – 0.409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Much smaller than the honest–rational gap in old calibration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V = 200 means most teams compete → standings mostly correct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Policy-relevant insight: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There is no free lunch — but the cost is modest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All four reforms substantially reduce tanking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with only marginal impact on competitive balance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90A4BD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B0BED4"/>
                </a:solidFill>
                <a:latin typeface="Calibri"/>
              </a:rPr>
              <a:t>Mechanism comparison, policy recommendations, and open questions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Mechanism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Across implementation simplicity, transparency, tanking elimination, and draft efficiency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1645920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1554480" cy="4297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20" y="1051560"/>
            <a:ext cx="1371600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38528" y="1097280"/>
            <a:ext cx="1280160" cy="4297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Simplicity
(implement)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051560"/>
            <a:ext cx="1554480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1097280"/>
            <a:ext cx="1463040" cy="4297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Transparency
(teams/fans)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051560"/>
            <a:ext cx="1463040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1097280"/>
            <a:ext cx="1371600" cy="4297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Tanking
Reduction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051560"/>
            <a:ext cx="1828800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097280"/>
            <a:ext cx="1737360" cy="4297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Draft Efficiency
(weakest quartile)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051560"/>
            <a:ext cx="3657600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097280"/>
            <a:ext cx="3566160" cy="4297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1554480"/>
            <a:ext cx="54864" cy="80467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3464" y="1554480"/>
            <a:ext cx="1591056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" y="1627632"/>
            <a:ext cx="1536192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NBA 2019
(baseline)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74520" y="1554480"/>
            <a:ext cx="1371600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56816" y="1627632"/>
            <a:ext cx="12618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★★★★★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1554480"/>
            <a:ext cx="1554480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28416" y="1627632"/>
            <a:ext cx="144475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★★★★★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1554480"/>
            <a:ext cx="1463040" cy="804672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82896" y="1627632"/>
            <a:ext cx="135331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E63946"/>
                </a:solidFill>
                <a:latin typeface="Calibri"/>
              </a:rPr>
              <a:t>✗  6.9%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554480"/>
            <a:ext cx="1828800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1627632"/>
            <a:ext cx="17190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7.52  (worst)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1554480"/>
            <a:ext cx="3657600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4736" y="1627632"/>
            <a:ext cx="35478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Impossibility applies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2359152"/>
            <a:ext cx="54864" cy="8046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3464" y="2359152"/>
            <a:ext cx="1591056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" y="2432304"/>
            <a:ext cx="1536192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Bilevel
(Kazachkov)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74520" y="2359152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56816" y="2432304"/>
            <a:ext cx="12618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★★★☆☆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6120" y="2359152"/>
            <a:ext cx="15544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28416" y="2432304"/>
            <a:ext cx="144475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★★★☆☆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0600" y="2359152"/>
            <a:ext cx="1463040" cy="804672"/>
          </a:xfrm>
          <a:prstGeom prst="rect">
            <a:avLst/>
          </a:prstGeom>
          <a:solidFill>
            <a:srgbClr val="E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82896" y="2432304"/>
            <a:ext cx="135331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2196F3"/>
                </a:solidFill>
                <a:latin typeface="Calibri"/>
              </a:rPr>
              <a:t>✓  3.0%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2359152"/>
            <a:ext cx="18288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2432304"/>
            <a:ext cx="17190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6.85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92440" y="2359152"/>
            <a:ext cx="3657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4736" y="2432304"/>
            <a:ext cx="35478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Eliminates post-lock tanking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3163824"/>
            <a:ext cx="54864" cy="8046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83464" y="3163824"/>
            <a:ext cx="1591056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0896" y="3236976"/>
            <a:ext cx="1536192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COLA
(Highley)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20" y="3163824"/>
            <a:ext cx="1371600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56816" y="3236976"/>
            <a:ext cx="12618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★★☆☆☆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46120" y="3163824"/>
            <a:ext cx="1554480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28416" y="3236976"/>
            <a:ext cx="144475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★★★☆☆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00600" y="3163824"/>
            <a:ext cx="1463040" cy="8046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82896" y="3236976"/>
            <a:ext cx="135331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4CAF50"/>
                </a:solidFill>
                <a:latin typeface="Calibri"/>
              </a:rPr>
              <a:t>✓✓  0.5%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3163824"/>
            <a:ext cx="1828800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45936" y="3236976"/>
            <a:ext cx="17190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7.21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92440" y="3163824"/>
            <a:ext cx="3657600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74736" y="3236976"/>
            <a:ext cx="35478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Near-full IC proof (Diet COLA)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968496"/>
            <a:ext cx="54864" cy="80467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83464" y="3968496"/>
            <a:ext cx="1591056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0896" y="4041648"/>
            <a:ext cx="1536192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Weighted Loss
(ours)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74520" y="3968496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56816" y="4041648"/>
            <a:ext cx="12618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★★★☆☆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46120" y="3968496"/>
            <a:ext cx="15544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28416" y="4041648"/>
            <a:ext cx="144475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★★☆☆☆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00600" y="3968496"/>
            <a:ext cx="1463040" cy="80467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82896" y="4041648"/>
            <a:ext cx="135331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9800"/>
                </a:solidFill>
                <a:latin typeface="Calibri"/>
              </a:rPr>
              <a:t>✓  2.3%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63640" y="3968496"/>
            <a:ext cx="18288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45936" y="4041648"/>
            <a:ext cx="17190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6.92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92440" y="3968496"/>
            <a:ext cx="3657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74736" y="4041648"/>
            <a:ext cx="35478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Continuous decay, no cutoff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" y="4773168"/>
            <a:ext cx="54864" cy="804672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83464" y="4773168"/>
            <a:ext cx="1591056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10896" y="4846320"/>
            <a:ext cx="1536192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NBA 3-2-1
(proposed)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74520" y="4773168"/>
            <a:ext cx="1371600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956816" y="4846320"/>
            <a:ext cx="12618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★★★★★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46120" y="4773168"/>
            <a:ext cx="1554480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328416" y="4846320"/>
            <a:ext cx="144475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★★★★☆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00600" y="4773168"/>
            <a:ext cx="1463040" cy="804672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882896" y="4846320"/>
            <a:ext cx="135331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9C27B0"/>
                </a:solidFill>
                <a:latin typeface="Calibri"/>
              </a:rPr>
              <a:t>✓✓  0.9%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63640" y="4773168"/>
            <a:ext cx="1828800" cy="804672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45936" y="4846320"/>
            <a:ext cx="17190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9C27B0"/>
                </a:solidFill>
                <a:latin typeface="Calibri"/>
              </a:rPr>
              <a:t>6.57  (BEST ★)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92440" y="4773168"/>
            <a:ext cx="3657600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74736" y="4846320"/>
            <a:ext cx="35478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Inverts Tier A incentive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28600" y="5669280"/>
            <a:ext cx="11521440" cy="347472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0040" y="5696712"/>
            <a:ext cx="1133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9C27B0"/>
                </a:solidFill>
                <a:latin typeface="Calibri"/>
              </a:rPr>
              <a:t>★  NBA 3-2-1 achieves the best tanking reduction + draft efficiency combination with highest implementation simplicity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Should the NBA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Our simulation-based policy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3657600" cy="347472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3520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Near-term: NBA 3-2-1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399032"/>
            <a:ext cx="3657600" cy="4407408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527048"/>
            <a:ext cx="349300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Easiest to implement — just rebalance balls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Highest transparency — rule is intuitive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0.9% tanking  +  6.57 draft efficiency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No multi-year ramp-up required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Already under serious consideration by NBA</a:t>
            </a:r>
          </a:p>
          <a:p>
            <a:r>
              <a:rPr sz="700"/>
              <a:t> 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Limitation: does not fully eliminate tanking;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restructures rather than removes the incentive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051560"/>
            <a:ext cx="365760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097280"/>
            <a:ext cx="3520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Medium-term: Bilevel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399032"/>
            <a:ext cx="3657600" cy="4407408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527048"/>
            <a:ext cx="349300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Lock standings at game 70 (public, pre-announced)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3.0% tanking — meaningful reduction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Strong theoretical basis (Kazachkov 2020)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No infrastructure overhaul required</a:t>
            </a:r>
          </a:p>
          <a:p>
            <a:r>
              <a:rPr sz="700"/>
              <a:t> 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Limitation: pre-breakpoint incentives remain;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fans need education on why standings 'freeze'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1051560"/>
            <a:ext cx="365760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097280"/>
            <a:ext cx="3520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Long-term: COLA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1399032"/>
            <a:ext cx="3657600" cy="4407408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1527048"/>
            <a:ext cx="349300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Theoretically strongest IC guarantee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0.5% tanking — near-zero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Chronically weak teams accumulate tickets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Formally proved (Diet COLA variant)</a:t>
            </a:r>
          </a:p>
          <a:p>
            <a:r>
              <a:rPr sz="700"/>
              <a:t> 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Limitation: multi-year accounting complexity;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requires transition plan for existing teams;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NBA historically reluctant to restructure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5897880"/>
            <a:ext cx="11704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Regardless of mechanism: the Banchio impossibility means we manage, not eliminate, tanking incentives.  The goal is a regime where the cost of tanking is higher than the benefit for most teams, most of the time.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Key Findings &amp; Open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5577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What We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▸ 1. All four reforms reduce tanking from the 6.9% NBA baseline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  – COLA (0.5%) and NBA 3-2-1 (0.9%) achieve strongest suppression</a:t>
            </a:r>
          </a:p>
          <a:p>
            <a:r>
              <a:rPr sz="700"/>
              <a:t> 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▸ 2. Tanking is concentrated far from the playoff bubble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  – 76% of decisions: team ranked 21st or worse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  – High V = 200 keeps bubble teams competing</a:t>
            </a:r>
          </a:p>
          <a:p>
            <a:r>
              <a:rPr sz="700"/>
              <a:t> 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▸ 3. Honest equilibrium is stable but not robust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  – 1 rational team → 0.2% aggregate tanking (not contagious)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  – But scales linearly: each rational agent adds ~0.2 pp</a:t>
            </a:r>
          </a:p>
          <a:p>
            <a:r>
              <a:rPr sz="700"/>
              <a:t> 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▸ 4. LLM tanking is mechanism-dependent  (0% → 8% range)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  – COLA and 3-2-1: near-zero; Bilevel and NBA lottery: higher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  – Type 2 behavioral tanking (post-elimination effort drop) dominates</a:t>
            </a:r>
          </a:p>
          <a:p>
            <a:r>
              <a:rPr sz="700"/>
              <a:t> 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▸ 5. NBA 3-2-1 has surprisingly strong draft efficiency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  – Inverted Tier A incentive improves outcomes for weakest teams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005840"/>
            <a:ext cx="5715000" cy="58064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097280"/>
            <a:ext cx="5577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Open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▸ Draft class strength  (links to LLM results)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We hold D(k) fixed; playoff value dominates throughout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Generational draft year: D(1) spike could flip COLA / 3-2-1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Anti-tanking guarantees may not hold in unusually strong draft years</a:t>
            </a:r>
          </a:p>
          <a:p>
            <a:r>
              <a:rPr sz="700"/>
              <a:t> 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▸ Is some tanking actually optimal?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Tau paradox: tanking can IMPROVE standings-skill alignment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If weak teams intentionally lose, draft redistribution works better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Is there a socially optimal tanking rate &gt; 0?</a:t>
            </a:r>
          </a:p>
          <a:p>
            <a:r>
              <a:rPr sz="700"/>
              <a:t> 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▸ Adversarial robustness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What if teams learn each other's strategies over time?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Multi-agent RL rather than static EU maximization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8895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91672" y="0"/>
            <a:ext cx="1097280" cy="10972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2952" y="0"/>
            <a:ext cx="1188720" cy="1097280"/>
          </a:xfrm>
          <a:prstGeom prst="rect">
            <a:avLst/>
          </a:prstGeom>
          <a:solidFill>
            <a:srgbClr val="2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058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CCD6E4"/>
                </a:solidFill>
                <a:latin typeface="Calibri"/>
              </a:rPr>
              <a:t>Grant Valentine  &amp;  Kartik Dhinakaran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E63946"/>
                </a:solidFill>
                <a:latin typeface="Calibri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E63946"/>
                </a:solidFill>
                <a:latin typeface="Calibri"/>
              </a:rPr>
              <a:t>6.9% → 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90A4BD"/>
                </a:solidFill>
                <a:latin typeface="Calibri"/>
              </a:rPr>
              <a:t>Tanking range
(NBA → COLA)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29768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E63946"/>
                </a:solidFill>
                <a:latin typeface="Calibri"/>
              </a:rPr>
              <a:t>0% → 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80060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90A4BD"/>
                </a:solidFill>
                <a:latin typeface="Calibri"/>
              </a:rPr>
              <a:t>LLM tanking range
across mechanisms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9768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E63946"/>
                </a:solidFill>
                <a:latin typeface="Calibri"/>
              </a:rPr>
              <a:t>6.57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0060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90A4BD"/>
                </a:solidFill>
                <a:latin typeface="Calibri"/>
              </a:rPr>
              <a:t>Best draft efficiency
(NBA 3-2-1)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29768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E63946"/>
                </a:solidFill>
                <a:latin typeface="Calibri"/>
              </a:rPr>
              <a:t>50 seasons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80060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90A4BD"/>
                </a:solidFill>
                <a:latin typeface="Calibri"/>
              </a:rPr>
              <a:t>Simulated per
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07890"/>
                </a:solidFill>
                <a:latin typeface="Calibri"/>
              </a:rPr>
              <a:t>Code: github.com/[repo]  |  Data: tanking_sim.db  |  Contact: grantsvalentine@gmail.com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